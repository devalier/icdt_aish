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flow" id="{66c269d3-a287-b180-7662-15d6c2e0065f}">
          <p14:sldIdLst>
            <p14:sldId id="256"/>
          </p14:sldIdLst>
        </p14:section>
        <p14:section name="User guide" id="{c5661645-194f-8790-9b6f-af57c64b0bd9}">
          <p14:sldIdLst>
            <p14:sldId id="257"/>
          </p14:sldIdLst>
        </p14:section>
        <p14:section name="Road to production" id="{ff2a9753-5c37-0f71-d1d2-e5edee2d925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Logical workflow of the AISH app. A: access; B: define a target and the editable pack module; C: run; D: read. Source: aish/web/*.py, aish/runner.py, packs/.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End-user guide. Source: templates/*.html, aish/web/*.py,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SECURITY.md known gaps, docs/requirements.md open questions OQ-2/3/5, packs/suites/*.yaml (PIN_ME), packs/models.yaml retry config vs aish/runner.py, aish/providers.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AISH works — from account to evidence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One loop: define a model target, run a versioned suite against it, read the scored evidence behind every number.</a:t>
            </a:r>
            <a:endParaRPr lang="en-US" sz="1500" dirty="0"/>
          </a:p>
        </p:txBody>
      </p:sp>
      <p:sp>
        <p:nvSpPr>
          <p:cNvPr id="4" name="Band A · GET IN"/>
          <p:cNvSpPr txBox="1"/>
          <p:nvPr/>
        </p:nvSpPr>
        <p:spPr>
          <a:xfrm>
            <a:off x="45720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 · GET IN</a:t>
            </a:r>
            <a:endParaRPr lang="en-US" sz="1100" dirty="0"/>
          </a:p>
        </p:txBody>
      </p:sp>
      <p:sp>
        <p:nvSpPr>
          <p:cNvPr id="5" name="Band box A · GET IN"/>
          <p:cNvSpPr/>
          <p:nvPr/>
        </p:nvSpPr>
        <p:spPr>
          <a:xfrm>
            <a:off x="457200" y="1618488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6" name="Step 1"/>
          <p:cNvSpPr/>
          <p:nvPr/>
        </p:nvSpPr>
        <p:spPr>
          <a:xfrm>
            <a:off x="59436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tep 1 text"/>
          <p:cNvSpPr txBox="1"/>
          <p:nvPr/>
        </p:nvSpPr>
        <p:spPr>
          <a:xfrm>
            <a:off x="685800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Register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EUIBA drop-list · email · password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219456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tep 2 text"/>
          <p:cNvSpPr txBox="1"/>
          <p:nvPr/>
        </p:nvSpPr>
        <p:spPr>
          <a:xfrm>
            <a:off x="2286000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Approved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administrator releases account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2103120" y="2066544"/>
            <a:ext cx="914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Band B · POINT AT A MODEL"/>
          <p:cNvSpPr txBox="1"/>
          <p:nvPr/>
        </p:nvSpPr>
        <p:spPr>
          <a:xfrm>
            <a:off x="4023360" y="1371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B · POINT AT A MODEL</a:t>
            </a:r>
            <a:endParaRPr lang="en-US" sz="1100" dirty="0"/>
          </a:p>
        </p:txBody>
      </p:sp>
      <p:sp>
        <p:nvSpPr>
          <p:cNvPr id="12" name="Band box B · POINT AT A MODEL"/>
          <p:cNvSpPr/>
          <p:nvPr/>
        </p:nvSpPr>
        <p:spPr>
          <a:xfrm>
            <a:off x="4023360" y="1618488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3" name="Step 3"/>
          <p:cNvSpPr/>
          <p:nvPr/>
        </p:nvSpPr>
        <p:spPr>
          <a:xfrm>
            <a:off x="4160520" y="1783080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tep 3 text"/>
          <p:cNvSpPr txBox="1"/>
          <p:nvPr/>
        </p:nvSpPr>
        <p:spPr>
          <a:xfrm>
            <a:off x="4251960" y="1783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target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provider · model id · endpoint · your key</a:t>
            </a:r>
            <a:endParaRPr lang="en-US" sz="1300" dirty="0"/>
          </a:p>
        </p:txBody>
      </p:sp>
      <p:sp>
        <p:nvSpPr>
          <p:cNvPr id="15" name="Step 4"/>
          <p:cNvSpPr/>
          <p:nvPr/>
        </p:nvSpPr>
        <p:spPr>
          <a:xfrm>
            <a:off x="6126480" y="1783080"/>
            <a:ext cx="178308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Step 4 text"/>
          <p:cNvSpPr txBox="1"/>
          <p:nvPr/>
        </p:nvSpPr>
        <p:spPr>
          <a:xfrm>
            <a:off x="6217920" y="1783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 connection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one 16-token call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6035040" y="2066544"/>
            <a:ext cx="914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Band EDITABLE MODULE · packs/"/>
          <p:cNvSpPr txBox="1"/>
          <p:nvPr/>
        </p:nvSpPr>
        <p:spPr>
          <a:xfrm>
            <a:off x="8229600" y="137160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EDITABLE MODULE · packs/</a:t>
            </a:r>
            <a:endParaRPr lang="en-US" sz="1100" dirty="0"/>
          </a:p>
        </p:txBody>
      </p:sp>
      <p:sp>
        <p:nvSpPr>
          <p:cNvPr id="19" name="Band box EDITABLE MODULE · packs/"/>
          <p:cNvSpPr/>
          <p:nvPr/>
        </p:nvSpPr>
        <p:spPr>
          <a:xfrm>
            <a:off x="8229600" y="1618488"/>
            <a:ext cx="350215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Packs text"/>
          <p:cNvSpPr txBox="1"/>
          <p:nvPr/>
        </p:nvSpPr>
        <p:spPr>
          <a:xfrm>
            <a:off x="8366760" y="17830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 suites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EU-MMLU · AILuminate · Bias · Grounding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Criteria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pass / watch / fail bands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Validated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python -m harness validate</a:t>
            </a:r>
            <a:endParaRPr lang="en-US" sz="1100" dirty="0"/>
          </a:p>
        </p:txBody>
      </p:sp>
      <p:sp>
        <p:nvSpPr>
          <p:cNvPr id="21" name="Band C · RUN  (background task, progress polled every 2 s)"/>
          <p:cNvSpPr txBox="1"/>
          <p:nvPr/>
        </p:nvSpPr>
        <p:spPr>
          <a:xfrm>
            <a:off x="457200" y="269748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 · RUN  (background task, progress polled every 2 s)</a:t>
            </a:r>
            <a:endParaRPr lang="en-US" sz="1100" dirty="0"/>
          </a:p>
        </p:txBody>
      </p:sp>
      <p:sp>
        <p:nvSpPr>
          <p:cNvPr id="22" name="Band box C · RUN  (background task, progress polled every 2 s)"/>
          <p:cNvSpPr/>
          <p:nvPr/>
        </p:nvSpPr>
        <p:spPr>
          <a:xfrm>
            <a:off x="457200" y="2944368"/>
            <a:ext cx="11274552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3" name="Step 5"/>
          <p:cNvSpPr/>
          <p:nvPr/>
        </p:nvSpPr>
        <p:spPr>
          <a:xfrm>
            <a:off x="594360" y="3108960"/>
            <a:ext cx="1965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tep 5 text"/>
          <p:cNvSpPr txBox="1"/>
          <p:nvPr/>
        </p:nvSpPr>
        <p:spPr>
          <a:xfrm>
            <a:off x="68580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Start run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pick suite + target, sample or full</a:t>
            </a:r>
            <a:endParaRPr lang="en-US" sz="1300" dirty="0"/>
          </a:p>
        </p:txBody>
      </p:sp>
      <p:sp>
        <p:nvSpPr>
          <p:cNvPr id="25" name="Step 6"/>
          <p:cNvSpPr/>
          <p:nvPr/>
        </p:nvSpPr>
        <p:spPr>
          <a:xfrm>
            <a:off x="2834640" y="3108960"/>
            <a:ext cx="1965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6" name="Step 6 text"/>
          <p:cNvSpPr txBox="1"/>
          <p:nvPr/>
        </p:nvSpPr>
        <p:spPr>
          <a:xfrm>
            <a:off x="292608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6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item cap checked · full runs above it refused, never truncated</a:t>
            </a:r>
            <a:endParaRPr lang="en-US" sz="1300" dirty="0"/>
          </a:p>
        </p:txBody>
      </p:sp>
      <p:sp>
        <p:nvSpPr>
          <p:cNvPr id="27" name="Step 7"/>
          <p:cNvSpPr/>
          <p:nvPr/>
        </p:nvSpPr>
        <p:spPr>
          <a:xfrm>
            <a:off x="5074920" y="3108960"/>
            <a:ext cx="1965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8" name="Step 7 text"/>
          <p:cNvSpPr txBox="1"/>
          <p:nvPr/>
        </p:nvSpPr>
        <p:spPr>
          <a:xfrm>
            <a:off x="516636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7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items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from packs/: matched variants (bias) or dataset rows</a:t>
            </a:r>
            <a:endParaRPr lang="en-US" sz="1300" dirty="0"/>
          </a:p>
        </p:txBody>
      </p:sp>
      <p:sp>
        <p:nvSpPr>
          <p:cNvPr id="29" name="Step 8"/>
          <p:cNvSpPr/>
          <p:nvPr/>
        </p:nvSpPr>
        <p:spPr>
          <a:xfrm>
            <a:off x="7315200" y="3108960"/>
            <a:ext cx="1965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0" name="Step 8 text"/>
          <p:cNvSpPr txBox="1"/>
          <p:nvPr/>
        </p:nvSpPr>
        <p:spPr>
          <a:xfrm>
            <a:off x="740664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8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Call the model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adapter per provider · parallel · endpoint re-checked each call</a:t>
            </a:r>
            <a:endParaRPr lang="en-US" sz="1300" dirty="0"/>
          </a:p>
        </p:txBody>
      </p:sp>
      <p:sp>
        <p:nvSpPr>
          <p:cNvPr id="31" name="Step 9"/>
          <p:cNvSpPr/>
          <p:nvPr/>
        </p:nvSpPr>
        <p:spPr>
          <a:xfrm>
            <a:off x="9555480" y="3108960"/>
            <a:ext cx="1965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2" name="Step 9 text"/>
          <p:cNvSpPr txBox="1"/>
          <p:nvPr/>
        </p:nvSpPr>
        <p:spPr>
          <a:xfrm>
            <a:off x="964692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9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Score each item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correct · refused · unparsed · error — kept separate</a:t>
            </a:r>
            <a:endParaRPr lang="en-US" sz="1300" dirty="0"/>
          </a:p>
        </p:txBody>
      </p:sp>
      <p:sp>
        <p:nvSpPr>
          <p:cNvPr id="33" name="Arrow"/>
          <p:cNvSpPr/>
          <p:nvPr/>
        </p:nvSpPr>
        <p:spPr>
          <a:xfrm>
            <a:off x="2560320" y="349758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>
            <a:off x="4800600" y="349758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7040880" y="349758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Arrow"/>
          <p:cNvSpPr/>
          <p:nvPr/>
        </p:nvSpPr>
        <p:spPr>
          <a:xfrm>
            <a:off x="9281160" y="349758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Band D · READ THE RESULT"/>
          <p:cNvSpPr txBox="1"/>
          <p:nvPr/>
        </p:nvSpPr>
        <p:spPr>
          <a:xfrm>
            <a:off x="457200" y="429768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D · READ THE RESULT</a:t>
            </a:r>
            <a:endParaRPr lang="en-US" sz="1100" dirty="0"/>
          </a:p>
        </p:txBody>
      </p:sp>
      <p:sp>
        <p:nvSpPr>
          <p:cNvPr id="38" name="Band box D · READ THE RESULT"/>
          <p:cNvSpPr/>
          <p:nvPr/>
        </p:nvSpPr>
        <p:spPr>
          <a:xfrm>
            <a:off x="457200" y="4544568"/>
            <a:ext cx="11274552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9" name="Step 10"/>
          <p:cNvSpPr/>
          <p:nvPr/>
        </p:nvSpPr>
        <p:spPr>
          <a:xfrm>
            <a:off x="594360" y="4663440"/>
            <a:ext cx="3291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0" name="Step 10 text"/>
          <p:cNvSpPr txBox="1"/>
          <p:nvPr/>
        </p:nvSpPr>
        <p:spPr>
          <a:xfrm>
            <a:off x="68580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10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Summarise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metrics with confidence intervals, graded against the suite's criteria</a:t>
            </a:r>
            <a:endParaRPr lang="en-US" sz="1300" dirty="0"/>
          </a:p>
        </p:txBody>
      </p:sp>
      <p:sp>
        <p:nvSpPr>
          <p:cNvPr id="41" name="Step 11"/>
          <p:cNvSpPr/>
          <p:nvPr/>
        </p:nvSpPr>
        <p:spPr>
          <a:xfrm>
            <a:off x="4160520" y="4663440"/>
            <a:ext cx="3291840" cy="77724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2" name="Step 11 text"/>
          <p:cNvSpPr txBox="1"/>
          <p:nvPr/>
        </p:nvSpPr>
        <p:spPr>
          <a:xfrm>
            <a:off x="425196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 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Verdict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worst metric decides: PASS · WATCH · FAIL · INCONCLUSIVE</a:t>
            </a:r>
            <a:endParaRPr lang="en-US" sz="1300" dirty="0"/>
          </a:p>
        </p:txBody>
      </p:sp>
      <p:sp>
        <p:nvSpPr>
          <p:cNvPr id="43" name="Step 12"/>
          <p:cNvSpPr/>
          <p:nvPr/>
        </p:nvSpPr>
        <p:spPr>
          <a:xfrm>
            <a:off x="7726680" y="4663440"/>
            <a:ext cx="3867912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4" name="Step 12 text"/>
          <p:cNvSpPr txBox="1"/>
          <p:nvPr/>
        </p:nvSpPr>
        <p:spPr>
          <a:xfrm>
            <a:off x="7818120" y="4663440"/>
            <a:ext cx="3685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12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Evidence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every prompt and response, per item, one click from the number</a:t>
            </a:r>
            <a:endParaRPr lang="en-US" sz="1300" dirty="0"/>
          </a:p>
        </p:txBody>
      </p:sp>
      <p:sp>
        <p:nvSpPr>
          <p:cNvPr id="45" name="Arrow"/>
          <p:cNvSpPr/>
          <p:nvPr/>
        </p:nvSpPr>
        <p:spPr>
          <a:xfrm>
            <a:off x="3886200" y="505206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7452360" y="505206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2011680" y="242316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Arrow"/>
          <p:cNvSpPr/>
          <p:nvPr/>
        </p:nvSpPr>
        <p:spPr>
          <a:xfrm>
            <a:off x="6035040" y="242316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9" name="Arrow"/>
          <p:cNvSpPr/>
          <p:nvPr/>
        </p:nvSpPr>
        <p:spPr>
          <a:xfrm>
            <a:off x="10607040" y="3886200"/>
            <a:ext cx="0" cy="4114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0" name="Guarantees strip"/>
          <p:cNvSpPr/>
          <p:nvPr/>
        </p:nvSpPr>
        <p:spPr>
          <a:xfrm>
            <a:off x="457200" y="5852160"/>
            <a:ext cx="11274552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1" name="Guarantees text"/>
          <p:cNvSpPr txBox="1"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What it guarantees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Your API key is encrypted (AES-256-GCM) and never shown again  ·  every result carries suite version + seed  ·  transport errors are never scored as wrong answers  ·  four axes reported separately, never averaged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AISH — five steps from sign-up to a verdict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What you click, what you should see, and what to do when it does not work.</a:t>
            </a:r>
            <a:endParaRPr lang="en-US" sz="1500" dirty="0"/>
          </a:p>
        </p:txBody>
      </p:sp>
      <p:sp>
        <p:nvSpPr>
          <p:cNvPr id="4" name="Card 1"/>
          <p:cNvSpPr/>
          <p:nvPr/>
        </p:nvSpPr>
        <p:spPr>
          <a:xfrm>
            <a:off x="457200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 text 1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Head 1"/>
          <p:cNvSpPr txBox="1"/>
          <p:nvPr/>
        </p:nvSpPr>
        <p:spPr>
          <a:xfrm>
            <a:off x="1143000" y="1481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Where 1"/>
          <p:cNvSpPr txBox="1"/>
          <p:nvPr/>
        </p:nvSpPr>
        <p:spPr>
          <a:xfrm>
            <a:off x="594360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/register → /login</a:t>
            </a:r>
            <a:endParaRPr lang="en-US" sz="1100" dirty="0"/>
          </a:p>
        </p:txBody>
      </p:sp>
      <p:sp>
        <p:nvSpPr>
          <p:cNvPr id="9" name="Do 1"/>
          <p:cNvSpPr txBox="1"/>
          <p:nvPr/>
        </p:nvSpPr>
        <p:spPr>
          <a:xfrm>
            <a:off x="594360" y="2395728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Pick your EUIBA from the list, use your work email, set a password.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Wait for administrator approval, then sign in.</a:t>
            </a:r>
            <a:endParaRPr lang="en-US" sz="1200" dirty="0"/>
          </a:p>
        </p:txBody>
      </p:sp>
      <p:sp>
        <p:nvSpPr>
          <p:cNvPr id="10" name="Note box 1"/>
          <p:cNvSpPr/>
          <p:nvPr/>
        </p:nvSpPr>
        <p:spPr>
          <a:xfrm>
            <a:off x="566928" y="4617720"/>
            <a:ext cx="1929384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ee 1"/>
          <p:cNvSpPr txBox="1"/>
          <p:nvPr/>
        </p:nvSpPr>
        <p:spPr>
          <a:xfrm>
            <a:off x="658368" y="4645152"/>
            <a:ext cx="1746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You should see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Five wrong passwords lock the account for 15 minutes.</a:t>
            </a:r>
            <a:endParaRPr lang="en-US" sz="1100" dirty="0"/>
          </a:p>
        </p:txBody>
      </p:sp>
      <p:sp>
        <p:nvSpPr>
          <p:cNvPr id="12" name="Card 2"/>
          <p:cNvSpPr/>
          <p:nvPr/>
        </p:nvSpPr>
        <p:spPr>
          <a:xfrm>
            <a:off x="2738628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Badge 2"/>
          <p:cNvSpPr/>
          <p:nvPr/>
        </p:nvSpPr>
        <p:spPr>
          <a:xfrm>
            <a:off x="2875788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 text 2"/>
          <p:cNvSpPr txBox="1"/>
          <p:nvPr/>
        </p:nvSpPr>
        <p:spPr>
          <a:xfrm>
            <a:off x="28757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Head 2"/>
          <p:cNvSpPr txBox="1"/>
          <p:nvPr/>
        </p:nvSpPr>
        <p:spPr>
          <a:xfrm>
            <a:off x="3424428" y="1481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model</a:t>
            </a:r>
            <a:endParaRPr lang="en-US" sz="1500" dirty="0"/>
          </a:p>
        </p:txBody>
      </p:sp>
      <p:sp>
        <p:nvSpPr>
          <p:cNvPr id="16" name="Where 2"/>
          <p:cNvSpPr txBox="1"/>
          <p:nvPr/>
        </p:nvSpPr>
        <p:spPr>
          <a:xfrm>
            <a:off x="287578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My models</a:t>
            </a:r>
            <a:endParaRPr lang="en-US" sz="1100" dirty="0"/>
          </a:p>
        </p:txBody>
      </p:sp>
      <p:sp>
        <p:nvSpPr>
          <p:cNvPr id="17" name="Do 2"/>
          <p:cNvSpPr txBox="1"/>
          <p:nvPr/>
        </p:nvSpPr>
        <p:spPr>
          <a:xfrm>
            <a:off x="2875788" y="2395728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Choose a provider, enter your own API key.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Click Load models from provider and pick the identifier from the list.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On-prem: give the endpoint URL; key optional.</a:t>
            </a:r>
            <a:endParaRPr lang="en-US" sz="1200" dirty="0"/>
          </a:p>
        </p:txBody>
      </p:sp>
      <p:sp>
        <p:nvSpPr>
          <p:cNvPr id="18" name="Note box 2"/>
          <p:cNvSpPr/>
          <p:nvPr/>
        </p:nvSpPr>
        <p:spPr>
          <a:xfrm>
            <a:off x="2848356" y="4617720"/>
            <a:ext cx="1929384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e 2"/>
          <p:cNvSpPr txBox="1"/>
          <p:nvPr/>
        </p:nvSpPr>
        <p:spPr>
          <a:xfrm>
            <a:off x="2939796" y="4645152"/>
            <a:ext cx="1746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You should see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key is stored encrypted and shown only as its last four characters.</a:t>
            </a:r>
            <a:endParaRPr lang="en-US" sz="1100" dirty="0"/>
          </a:p>
        </p:txBody>
      </p:sp>
      <p:sp>
        <p:nvSpPr>
          <p:cNvPr id="20" name="Card 3"/>
          <p:cNvSpPr/>
          <p:nvPr/>
        </p:nvSpPr>
        <p:spPr>
          <a:xfrm>
            <a:off x="5020056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Badge 3"/>
          <p:cNvSpPr/>
          <p:nvPr/>
        </p:nvSpPr>
        <p:spPr>
          <a:xfrm>
            <a:off x="5157216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Badge text 3"/>
          <p:cNvSpPr txBox="1"/>
          <p:nvPr/>
        </p:nvSpPr>
        <p:spPr>
          <a:xfrm>
            <a:off x="51572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Head 3"/>
          <p:cNvSpPr txBox="1"/>
          <p:nvPr/>
        </p:nvSpPr>
        <p:spPr>
          <a:xfrm>
            <a:off x="5705856" y="1481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connection</a:t>
            </a:r>
            <a:endParaRPr lang="en-US" sz="1500" dirty="0"/>
          </a:p>
        </p:txBody>
      </p:sp>
      <p:sp>
        <p:nvSpPr>
          <p:cNvPr id="24" name="Where 3"/>
          <p:cNvSpPr txBox="1"/>
          <p:nvPr/>
        </p:nvSpPr>
        <p:spPr>
          <a:xfrm>
            <a:off x="5157216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My models → Test</a:t>
            </a:r>
            <a:endParaRPr lang="en-US" sz="1100" dirty="0"/>
          </a:p>
        </p:txBody>
      </p:sp>
      <p:sp>
        <p:nvSpPr>
          <p:cNvPr id="25" name="Do 3"/>
          <p:cNvSpPr txBox="1"/>
          <p:nvPr/>
        </p:nvSpPr>
        <p:spPr>
          <a:xfrm>
            <a:off x="5157216" y="2395728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the one-token check before spending a run.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 the result line under the target.</a:t>
            </a:r>
            <a:endParaRPr lang="en-US" sz="1200" dirty="0"/>
          </a:p>
        </p:txBody>
      </p:sp>
      <p:sp>
        <p:nvSpPr>
          <p:cNvPr id="26" name="Note box 3"/>
          <p:cNvSpPr/>
          <p:nvPr/>
        </p:nvSpPr>
        <p:spPr>
          <a:xfrm>
            <a:off x="5129784" y="4617720"/>
            <a:ext cx="1929384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ee 3"/>
          <p:cNvSpPr txBox="1"/>
          <p:nvPr/>
        </p:nvSpPr>
        <p:spPr>
          <a:xfrm>
            <a:off x="5221224" y="4645152"/>
            <a:ext cx="1746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You should see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failure shows the provider's own message, e.g. “Model Not Exist” or a 403 for model access.</a:t>
            </a:r>
            <a:endParaRPr lang="en-US" sz="1100" dirty="0"/>
          </a:p>
        </p:txBody>
      </p:sp>
      <p:sp>
        <p:nvSpPr>
          <p:cNvPr id="28" name="Card 4"/>
          <p:cNvSpPr/>
          <p:nvPr/>
        </p:nvSpPr>
        <p:spPr>
          <a:xfrm>
            <a:off x="7301484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9" name="Badge 4"/>
          <p:cNvSpPr/>
          <p:nvPr/>
        </p:nvSpPr>
        <p:spPr>
          <a:xfrm>
            <a:off x="7438644" y="15087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Badge text 4"/>
          <p:cNvSpPr txBox="1"/>
          <p:nvPr/>
        </p:nvSpPr>
        <p:spPr>
          <a:xfrm>
            <a:off x="74386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Head 4"/>
          <p:cNvSpPr txBox="1"/>
          <p:nvPr/>
        </p:nvSpPr>
        <p:spPr>
          <a:xfrm>
            <a:off x="7987284" y="1481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run</a:t>
            </a:r>
            <a:endParaRPr lang="en-US" sz="1500" dirty="0"/>
          </a:p>
        </p:txBody>
      </p:sp>
      <p:sp>
        <p:nvSpPr>
          <p:cNvPr id="32" name="Where 4"/>
          <p:cNvSpPr txBox="1"/>
          <p:nvPr/>
        </p:nvSpPr>
        <p:spPr>
          <a:xfrm>
            <a:off x="7438644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Runs → new run</a:t>
            </a:r>
            <a:endParaRPr lang="en-US" sz="1100" dirty="0"/>
          </a:p>
        </p:txBody>
      </p:sp>
      <p:sp>
        <p:nvSpPr>
          <p:cNvPr id="33" name="Do 4"/>
          <p:cNvSpPr txBox="1"/>
          <p:nvPr/>
        </p:nvSpPr>
        <p:spPr>
          <a:xfrm>
            <a:off x="7438644" y="2395728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Pick a suite and one of your targets.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Choose Sample to try it, Full for a scored, comparable run.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Watch the progress bar; you can leave the page.</a:t>
            </a:r>
            <a:endParaRPr lang="en-US" sz="1200" dirty="0"/>
          </a:p>
        </p:txBody>
      </p:sp>
      <p:sp>
        <p:nvSpPr>
          <p:cNvPr id="34" name="Note box 4"/>
          <p:cNvSpPr/>
          <p:nvPr/>
        </p:nvSpPr>
        <p:spPr>
          <a:xfrm>
            <a:off x="7411212" y="4617720"/>
            <a:ext cx="1929384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ee 4"/>
          <p:cNvSpPr txBox="1"/>
          <p:nvPr/>
        </p:nvSpPr>
        <p:spPr>
          <a:xfrm>
            <a:off x="7502652" y="4645152"/>
            <a:ext cx="1746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You should see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Sample runs are tagged and are not comparable to full runs.</a:t>
            </a:r>
            <a:endParaRPr lang="en-US" sz="1100" dirty="0"/>
          </a:p>
        </p:txBody>
      </p:sp>
      <p:sp>
        <p:nvSpPr>
          <p:cNvPr id="36" name="Card 5"/>
          <p:cNvSpPr/>
          <p:nvPr/>
        </p:nvSpPr>
        <p:spPr>
          <a:xfrm>
            <a:off x="9582912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7" name="Badge 5"/>
          <p:cNvSpPr/>
          <p:nvPr/>
        </p:nvSpPr>
        <p:spPr>
          <a:xfrm>
            <a:off x="9720072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Badge text 5"/>
          <p:cNvSpPr txBox="1"/>
          <p:nvPr/>
        </p:nvSpPr>
        <p:spPr>
          <a:xfrm>
            <a:off x="97200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Head 5"/>
          <p:cNvSpPr txBox="1"/>
          <p:nvPr/>
        </p:nvSpPr>
        <p:spPr>
          <a:xfrm>
            <a:off x="10268712" y="1481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result</a:t>
            </a:r>
            <a:endParaRPr lang="en-US" sz="1500" dirty="0"/>
          </a:p>
        </p:txBody>
      </p:sp>
      <p:sp>
        <p:nvSpPr>
          <p:cNvPr id="40" name="Where 5"/>
          <p:cNvSpPr txBox="1"/>
          <p:nvPr/>
        </p:nvSpPr>
        <p:spPr>
          <a:xfrm>
            <a:off x="9720072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Model comparison · Run page</a:t>
            </a:r>
            <a:endParaRPr lang="en-US" sz="1100" dirty="0"/>
          </a:p>
        </p:txBody>
      </p:sp>
      <p:sp>
        <p:nvSpPr>
          <p:cNvPr id="41" name="Do 5"/>
          <p:cNvSpPr txBox="1"/>
          <p:nvPr/>
        </p:nvSpPr>
        <p:spPr>
          <a:xfrm>
            <a:off x="9720072" y="2395728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 the run: overall verdict, metrics, per-stratum tables.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 Evidence to read each prompt and response.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Language parity, Bias basis and Scoring for the method.</a:t>
            </a:r>
            <a:endParaRPr lang="en-US" sz="1200" dirty="0"/>
          </a:p>
        </p:txBody>
      </p:sp>
      <p:sp>
        <p:nvSpPr>
          <p:cNvPr id="42" name="Note box 5"/>
          <p:cNvSpPr/>
          <p:nvPr/>
        </p:nvSpPr>
        <p:spPr>
          <a:xfrm>
            <a:off x="9692640" y="4617720"/>
            <a:ext cx="1929384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See 5"/>
          <p:cNvSpPr txBox="1"/>
          <p:nvPr/>
        </p:nvSpPr>
        <p:spPr>
          <a:xfrm>
            <a:off x="9784080" y="4645152"/>
            <a:ext cx="1746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You should see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INCONCLUSIVE means the confidence interval crosses a threshold: add items, do not guess.</a:t>
            </a:r>
            <a:endParaRPr lang="en-US" sz="1100" dirty="0"/>
          </a:p>
        </p:txBody>
      </p:sp>
      <p:sp>
        <p:nvSpPr>
          <p:cNvPr id="44" name="Arrow"/>
          <p:cNvSpPr/>
          <p:nvPr/>
        </p:nvSpPr>
        <p:spPr>
          <a:xfrm>
            <a:off x="2587752" y="1737360"/>
            <a:ext cx="16916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5" name="Arrow"/>
          <p:cNvSpPr/>
          <p:nvPr/>
        </p:nvSpPr>
        <p:spPr>
          <a:xfrm>
            <a:off x="4869180" y="1737360"/>
            <a:ext cx="16916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7150608" y="1737360"/>
            <a:ext cx="16916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9432036" y="1737360"/>
            <a:ext cx="16916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Suites footer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Which suite? 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EU-MMLU: capability across 16 languages  ·  AILuminate: harm propensity (needs its licensed prompt set and a judge, not yet available)  ·  EUIBA Bias: same question, one attribute changed  ·  EUIBA Grounding: does it invent, or abstain correctly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needed for a production safety harness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Today AISH runs and scores end to end. These gaps stand between it and a scored, multi-model, institution-grade service.</a:t>
            </a:r>
            <a:endParaRPr lang="en-US" sz="1500" dirty="0"/>
          </a:p>
        </p:txBody>
      </p:sp>
      <p:sp>
        <p:nvSpPr>
          <p:cNvPr id="4" name="Col 1"/>
          <p:cNvSpPr/>
          <p:nvPr/>
        </p:nvSpPr>
        <p:spPr>
          <a:xfrm>
            <a:off x="457200" y="1371600"/>
            <a:ext cx="3639312" cy="5074920"/>
          </a:xfrm>
          <a:prstGeom prst="roundRect">
            <a:avLst>
              <a:gd name="adj" fmla="val 201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" name="Tag 1"/>
          <p:cNvSpPr txBox="1"/>
          <p:nvPr/>
        </p:nvSpPr>
        <p:spPr>
          <a:xfrm>
            <a:off x="640080" y="1481328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BLOCKS SCORED RUNS</a:t>
            </a:r>
            <a:endParaRPr lang="en-US" sz="1050" dirty="0"/>
          </a:p>
        </p:txBody>
      </p:sp>
      <p:sp>
        <p:nvSpPr>
          <p:cNvPr id="6" name="Col head 1"/>
          <p:cNvSpPr txBox="1"/>
          <p:nvPr/>
        </p:nvSpPr>
        <p:spPr>
          <a:xfrm>
            <a:off x="640080" y="1719072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Before any score is official</a:t>
            </a:r>
            <a:endParaRPr lang="en-US" sz="1700" dirty="0"/>
          </a:p>
        </p:txBody>
      </p:sp>
      <p:sp>
        <p:nvSpPr>
          <p:cNvPr id="7" name="Dot 1.1"/>
          <p:cNvSpPr/>
          <p:nvPr/>
        </p:nvSpPr>
        <p:spPr>
          <a:xfrm>
            <a:off x="640080" y="226771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Dot text 1.1"/>
          <p:cNvSpPr txBox="1"/>
          <p:nvPr/>
        </p:nvSpPr>
        <p:spPr>
          <a:xfrm>
            <a:off x="64008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Item 1.1"/>
          <p:cNvSpPr txBox="1"/>
          <p:nvPr/>
        </p:nvSpPr>
        <p:spPr>
          <a:xfrm>
            <a:off x="1024128" y="22402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Ratify thresholds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All pass/watch/fail bands are placeholders until the Working Group signs them off (OQ-5).</a:t>
            </a:r>
            <a:endParaRPr lang="en-US" sz="1300" dirty="0"/>
          </a:p>
        </p:txBody>
      </p:sp>
      <p:sp>
        <p:nvSpPr>
          <p:cNvPr id="10" name="Dot 1.2"/>
          <p:cNvSpPr/>
          <p:nvPr/>
        </p:nvSpPr>
        <p:spPr>
          <a:xfrm>
            <a:off x="640080" y="327355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Dot text 1.2"/>
          <p:cNvSpPr txBox="1"/>
          <p:nvPr/>
        </p:nvSpPr>
        <p:spPr>
          <a:xfrm>
            <a:off x="6400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Item 1.2"/>
          <p:cNvSpPr txBox="1"/>
          <p:nvPr/>
        </p:nvSpPr>
        <p:spPr>
          <a:xfrm>
            <a:off x="1024128" y="324612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Pin the datasets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EU-MMLU and AILuminate revisions read PIN_ME, so validate --strict fails by design.</a:t>
            </a:r>
            <a:endParaRPr lang="en-US" sz="1300" dirty="0"/>
          </a:p>
        </p:txBody>
      </p:sp>
      <p:sp>
        <p:nvSpPr>
          <p:cNvPr id="13" name="Dot 1.3"/>
          <p:cNvSpPr/>
          <p:nvPr/>
        </p:nvSpPr>
        <p:spPr>
          <a:xfrm>
            <a:off x="640080" y="427939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Dot text 1.3"/>
          <p:cNvSpPr txBox="1"/>
          <p:nvPr/>
        </p:nvSpPr>
        <p:spPr>
          <a:xfrm>
            <a:off x="64008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Item 1.3"/>
          <p:cNvSpPr txBox="1"/>
          <p:nvPr/>
        </p:nvSpPr>
        <p:spPr>
          <a:xfrm>
            <a:off x="1024128" y="425196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Provision the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Fetch EU-MMLU onto the host. Settle the AILuminate licence and access tier (OQ-2).</a:t>
            </a:r>
            <a:endParaRPr lang="en-US" sz="1300" dirty="0"/>
          </a:p>
        </p:txBody>
      </p:sp>
      <p:sp>
        <p:nvSpPr>
          <p:cNvPr id="16" name="Dot 1.4"/>
          <p:cNvSpPr/>
          <p:nvPr/>
        </p:nvSpPr>
        <p:spPr>
          <a:xfrm>
            <a:off x="640080" y="528523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Dot text 1.4"/>
          <p:cNvSpPr txBox="1"/>
          <p:nvPr/>
        </p:nvSpPr>
        <p:spPr>
          <a:xfrm>
            <a:off x="6400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Item 1.4"/>
          <p:cNvSpPr txBox="1"/>
          <p:nvPr/>
        </p:nvSpPr>
        <p:spPr>
          <a:xfrm>
            <a:off x="1024128" y="52578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the judge path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AILuminate cannot run without an LLM judge. Decide the judge policy for on-prem content (OQ-3).</a:t>
            </a:r>
            <a:endParaRPr lang="en-US" sz="1300" dirty="0"/>
          </a:p>
        </p:txBody>
      </p:sp>
      <p:sp>
        <p:nvSpPr>
          <p:cNvPr id="19" name="Col 2"/>
          <p:cNvSpPr/>
          <p:nvPr/>
        </p:nvSpPr>
        <p:spPr>
          <a:xfrm>
            <a:off x="4274820" y="1371600"/>
            <a:ext cx="3639312" cy="5074920"/>
          </a:xfrm>
          <a:prstGeom prst="roundRect">
            <a:avLst>
              <a:gd name="adj" fmla="val 201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Tag 2"/>
          <p:cNvSpPr txBox="1"/>
          <p:nvPr/>
        </p:nvSpPr>
        <p:spPr>
          <a:xfrm>
            <a:off x="4457700" y="1481328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MULTI-MODEL</a:t>
            </a:r>
            <a:endParaRPr lang="en-US" sz="1050" dirty="0"/>
          </a:p>
        </p:txBody>
      </p:sp>
      <p:sp>
        <p:nvSpPr>
          <p:cNvPr id="21" name="Col head 2"/>
          <p:cNvSpPr txBox="1"/>
          <p:nvPr/>
        </p:nvSpPr>
        <p:spPr>
          <a:xfrm>
            <a:off x="4457700" y="1719072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Scale to many models</a:t>
            </a:r>
            <a:endParaRPr lang="en-US" sz="1700" dirty="0"/>
          </a:p>
        </p:txBody>
      </p:sp>
      <p:sp>
        <p:nvSpPr>
          <p:cNvPr id="22" name="Dot 2.1"/>
          <p:cNvSpPr/>
          <p:nvPr/>
        </p:nvSpPr>
        <p:spPr>
          <a:xfrm>
            <a:off x="4457700" y="226771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Dot text 2.1"/>
          <p:cNvSpPr txBox="1"/>
          <p:nvPr/>
        </p:nvSpPr>
        <p:spPr>
          <a:xfrm>
            <a:off x="44577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Item 2.1"/>
          <p:cNvSpPr txBox="1"/>
          <p:nvPr/>
        </p:nvSpPr>
        <p:spPr>
          <a:xfrm>
            <a:off x="4841748" y="22402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Verify every adapter live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Anthropic, OpenAI, DeepSeek and on-prem endpoints have not been exercised against real APIs in CI.</a:t>
            </a:r>
            <a:endParaRPr lang="en-US" sz="1300" dirty="0"/>
          </a:p>
        </p:txBody>
      </p:sp>
      <p:sp>
        <p:nvSpPr>
          <p:cNvPr id="25" name="Dot 2.2"/>
          <p:cNvSpPr/>
          <p:nvPr/>
        </p:nvSpPr>
        <p:spPr>
          <a:xfrm>
            <a:off x="4457700" y="32735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Dot text 2.2"/>
          <p:cNvSpPr txBox="1"/>
          <p:nvPr/>
        </p:nvSpPr>
        <p:spPr>
          <a:xfrm>
            <a:off x="44577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Item 2.2"/>
          <p:cNvSpPr txBox="1"/>
          <p:nvPr/>
        </p:nvSpPr>
        <p:spPr>
          <a:xfrm>
            <a:off x="4841748" y="324612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Retry and back-off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models.yaml defines retries, but the runner does not use them: a 429 or 5xx is scored as an error.</a:t>
            </a:r>
            <a:endParaRPr lang="en-US" sz="1300" dirty="0"/>
          </a:p>
        </p:txBody>
      </p:sp>
      <p:sp>
        <p:nvSpPr>
          <p:cNvPr id="28" name="Dot 2.3"/>
          <p:cNvSpPr/>
          <p:nvPr/>
        </p:nvSpPr>
        <p:spPr>
          <a:xfrm>
            <a:off x="4457700" y="427939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Dot text 2.3"/>
          <p:cNvSpPr txBox="1"/>
          <p:nvPr/>
        </p:nvSpPr>
        <p:spPr>
          <a:xfrm>
            <a:off x="44577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Item 2.3"/>
          <p:cNvSpPr txBox="1"/>
          <p:nvPr/>
        </p:nvSpPr>
        <p:spPr>
          <a:xfrm>
            <a:off x="4841748" y="425196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Fleet-wide runs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Targets are per user. A like-for-like fleet comparison needs one run across all fleet models and a mandatory fleet mapping.</a:t>
            </a:r>
            <a:endParaRPr lang="en-US" sz="1300" dirty="0"/>
          </a:p>
        </p:txBody>
      </p:sp>
      <p:sp>
        <p:nvSpPr>
          <p:cNvPr id="31" name="Dot 2.4"/>
          <p:cNvSpPr/>
          <p:nvPr/>
        </p:nvSpPr>
        <p:spPr>
          <a:xfrm>
            <a:off x="4457700" y="528523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Dot text 2.4"/>
          <p:cNvSpPr txBox="1"/>
          <p:nvPr/>
        </p:nvSpPr>
        <p:spPr>
          <a:xfrm>
            <a:off x="445770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Item 2.4"/>
          <p:cNvSpPr txBox="1"/>
          <p:nvPr/>
        </p:nvSpPr>
        <p:spPr>
          <a:xfrm>
            <a:off x="4841748" y="52578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Enforce data residency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 restricted-content rule is checked on the pack files, not when a user points a run at a cloud model.</a:t>
            </a:r>
            <a:endParaRPr lang="en-US" sz="1300" dirty="0"/>
          </a:p>
        </p:txBody>
      </p:sp>
      <p:sp>
        <p:nvSpPr>
          <p:cNvPr id="34" name="Col 3"/>
          <p:cNvSpPr/>
          <p:nvPr/>
        </p:nvSpPr>
        <p:spPr>
          <a:xfrm>
            <a:off x="8092440" y="1371600"/>
            <a:ext cx="3639312" cy="5074920"/>
          </a:xfrm>
          <a:prstGeom prst="roundRect">
            <a:avLst>
              <a:gd name="adj" fmla="val 201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5" name="Tag 3"/>
          <p:cNvSpPr txBox="1"/>
          <p:nvPr/>
        </p:nvSpPr>
        <p:spPr>
          <a:xfrm>
            <a:off x="8275320" y="1481328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HARDENING</a:t>
            </a:r>
            <a:endParaRPr lang="en-US" sz="1050" dirty="0"/>
          </a:p>
        </p:txBody>
      </p:sp>
      <p:sp>
        <p:nvSpPr>
          <p:cNvPr id="36" name="Col head 3"/>
          <p:cNvSpPr txBox="1"/>
          <p:nvPr/>
        </p:nvSpPr>
        <p:spPr>
          <a:xfrm>
            <a:off x="8275320" y="1719072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Operate it as a service</a:t>
            </a:r>
            <a:endParaRPr lang="en-US" sz="1700" dirty="0"/>
          </a:p>
        </p:txBody>
      </p:sp>
      <p:sp>
        <p:nvSpPr>
          <p:cNvPr id="37" name="Dot 3.1"/>
          <p:cNvSpPr/>
          <p:nvPr/>
        </p:nvSpPr>
        <p:spPr>
          <a:xfrm>
            <a:off x="8275320" y="226771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Dot text 3.1"/>
          <p:cNvSpPr txBox="1"/>
          <p:nvPr/>
        </p:nvSpPr>
        <p:spPr>
          <a:xfrm>
            <a:off x="827532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9" name="Item 3.1"/>
          <p:cNvSpPr txBox="1"/>
          <p:nvPr/>
        </p:nvSpPr>
        <p:spPr>
          <a:xfrm>
            <a:off x="8659368" y="22402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Administrator UI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Approving accounts is a database operation today.</a:t>
            </a:r>
            <a:endParaRPr lang="en-US" sz="1300" dirty="0"/>
          </a:p>
        </p:txBody>
      </p:sp>
      <p:sp>
        <p:nvSpPr>
          <p:cNvPr id="40" name="Dot 3.2"/>
          <p:cNvSpPr/>
          <p:nvPr/>
        </p:nvSpPr>
        <p:spPr>
          <a:xfrm>
            <a:off x="8275320" y="327355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Dot text 3.2"/>
          <p:cNvSpPr txBox="1"/>
          <p:nvPr/>
        </p:nvSpPr>
        <p:spPr>
          <a:xfrm>
            <a:off x="82753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2" name="Item 3.2"/>
          <p:cNvSpPr txBox="1"/>
          <p:nvPr/>
        </p:nvSpPr>
        <p:spPr>
          <a:xfrm>
            <a:off x="8659368" y="324612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Password reset and 2FA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Needs SMTP, signed reset tokens and TOTP.</a:t>
            </a:r>
            <a:endParaRPr lang="en-US" sz="1300" dirty="0"/>
          </a:p>
        </p:txBody>
      </p:sp>
      <p:sp>
        <p:nvSpPr>
          <p:cNvPr id="43" name="Dot 3.3"/>
          <p:cNvSpPr/>
          <p:nvPr/>
        </p:nvSpPr>
        <p:spPr>
          <a:xfrm>
            <a:off x="8275320" y="427939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Dot text 3.3"/>
          <p:cNvSpPr txBox="1"/>
          <p:nvPr/>
        </p:nvSpPr>
        <p:spPr>
          <a:xfrm>
            <a:off x="82753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45" name="Item 3.3"/>
          <p:cNvSpPr txBox="1"/>
          <p:nvPr/>
        </p:nvSpPr>
        <p:spPr>
          <a:xfrm>
            <a:off x="8659368" y="425196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 and shared limits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SQLite and per-instance rate limits suit one instance only.</a:t>
            </a:r>
            <a:endParaRPr lang="en-US" sz="1300" dirty="0"/>
          </a:p>
        </p:txBody>
      </p:sp>
      <p:sp>
        <p:nvSpPr>
          <p:cNvPr id="46" name="Dot 3.4"/>
          <p:cNvSpPr/>
          <p:nvPr/>
        </p:nvSpPr>
        <p:spPr>
          <a:xfrm>
            <a:off x="8275320" y="528523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Dot text 3.4"/>
          <p:cNvSpPr txBox="1"/>
          <p:nvPr/>
        </p:nvSpPr>
        <p:spPr>
          <a:xfrm>
            <a:off x="827532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Item 3.4"/>
          <p:cNvSpPr txBox="1"/>
          <p:nvPr/>
        </p:nvSpPr>
        <p:spPr>
          <a:xfrm>
            <a:off x="8659368" y="52578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Ops basics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Backups, monitoring and alerts, token and cost budgets per run, a release and rollback routine.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H">
  <a:themeElements>
    <a:clrScheme name="AISH">
      <a:dk1>
        <a:srgbClr val="1A2340"/>
      </a:dk1>
      <a:lt1>
        <a:srgbClr val="FFFFFF"/>
      </a:lt1>
      <a:dk2>
        <a:srgbClr val="2B3A8C"/>
      </a:dk2>
      <a:lt2>
        <a:srgbClr val="F2F4FA"/>
      </a:lt2>
      <a:accent1>
        <a:srgbClr val="2B3A8C"/>
      </a:accent1>
      <a:accent2>
        <a:srgbClr val="0F766E"/>
      </a:accent2>
      <a:accent3>
        <a:srgbClr val="B45309"/>
      </a:accent3>
      <a:accent4>
        <a:srgbClr val="7C3AED"/>
      </a:accent4>
      <a:accent5>
        <a:srgbClr val="C2410C"/>
      </a:accent5>
      <a:accent6>
        <a:srgbClr val="64748B"/>
      </a:accent6>
      <a:hlink>
        <a:srgbClr val="2B3A8C"/>
      </a:hlink>
      <a:folHlink>
        <a:srgbClr val="64748B"/>
      </a:folHlink>
    </a:clrScheme>
    <a:fontScheme name="AIS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AISH — workflow and user guide</dc:title>
  <dc:subject>PptxGenJS Presentation</dc:subject>
  <dc:creator>PptxGenJS</dc:creator>
  <cp:lastModifiedBy>PptxGenJS</cp:lastModifiedBy>
  <cp:revision>1</cp:revision>
  <dcterms:created xsi:type="dcterms:W3CDTF">2026-10-14T08:04:15Z</dcterms:created>
  <dcterms:modified xsi:type="dcterms:W3CDTF">2026-10-14T08:04:15Z</dcterms:modified>
</cp:coreProperties>
</file>